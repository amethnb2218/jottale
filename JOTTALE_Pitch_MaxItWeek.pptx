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75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nput_fil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48640"/>
            <a:ext cx="822960" cy="822960"/>
          </a:xfrm>
          <a:prstGeom prst="rect">
            <a:avLst/>
          </a:prstGeom>
        </p:spPr>
      </p:pic>
      <p:pic>
        <p:nvPicPr>
          <p:cNvPr id="3" name="Picture 2" descr="input_fil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616971"/>
            <a:ext cx="914400" cy="71306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1645920"/>
            <a:ext cx="3474720" cy="365760"/>
          </a:xfrm>
          <a:prstGeom prst="round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6600"/>
                </a:solidFill>
              </a:defRPr>
            </a:pPr>
            <a:r>
              <a:t>MAX IT WEEK • PROTOTYPE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6858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« Votre transfert de 10 000 FCFA semble bloqué.</a:t>
            </a:r>
          </a:p>
          <a:p>
            <a:pPr>
              <a:spcBef>
                <a:spcPts val="800"/>
              </a:spcBef>
              <a:defRPr sz="3600" b="1">
                <a:solidFill>
                  <a:srgbClr val="FF6600"/>
                </a:solidFill>
              </a:defRPr>
            </a:pPr>
            <a:r>
              <a:t>Vous recommencez ?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JOTTALE — Quand une opération bloque, tu sais quoi faire.</a:t>
            </a:r>
          </a:p>
          <a:p>
            <a:pPr>
              <a:spcBef>
                <a:spcPts val="800"/>
              </a:spcBef>
              <a:defRPr sz="1400">
                <a:solidFill>
                  <a:srgbClr val="A0A0A0"/>
                </a:solidFill>
              </a:defRPr>
            </a:pPr>
            <a:r>
              <a:t>Le compagnon d'auto-assistance Max It qui transforme l'incertitude et la peur du double débit en une action guidée, claire et rassurante.</a:t>
            </a:r>
          </a:p>
        </p:txBody>
      </p:sp>
      <p:pic>
        <p:nvPicPr>
          <p:cNvPr id="7" name="Picture 6" descr="input_file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731520"/>
            <a:ext cx="3707476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7724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6600"/>
                </a:solidFill>
              </a:defRPr>
            </a:pPr>
            <a:r>
              <a:t>MAX IT WEEK • ORANGE DIGITAL CENTER SÉNÉGAL</a:t>
            </a:r>
          </a:p>
          <a:p>
            <a:pPr>
              <a:spcBef>
                <a:spcPts val="400"/>
              </a:spcBef>
              <a:defRPr sz="2800" b="1">
                <a:solidFill>
                  <a:srgbClr val="FFFFFF"/>
                </a:solidFill>
              </a:defRPr>
            </a:pPr>
            <a:r>
              <a:t>L'Incertitude Client : Coût Caché &amp; Friction Majeure</a:t>
            </a:r>
          </a:p>
        </p:txBody>
      </p:sp>
      <p:pic>
        <p:nvPicPr>
          <p:cNvPr id="3" name="Picture 2" descr="input_fil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65760"/>
            <a:ext cx="685800" cy="685800"/>
          </a:xfrm>
          <a:prstGeom prst="rect">
            <a:avLst/>
          </a:prstGeom>
        </p:spPr>
      </p:pic>
      <p:pic>
        <p:nvPicPr>
          <p:cNvPr id="4" name="Picture 3" descr="input_fil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65760"/>
            <a:ext cx="777240" cy="685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645920"/>
            <a:ext cx="6583680" cy="1280160"/>
          </a:xfrm>
          <a:prstGeom prst="roundRect">
            <a:avLst/>
          </a:prstGeom>
          <a:solidFill>
            <a:srgbClr val="1E1E1E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600" b="1">
                <a:solidFill>
                  <a:srgbClr val="FF6600"/>
                </a:solidFill>
              </a:defRPr>
            </a:pPr>
            <a:r>
              <a:t>1. Le Réflexe du Doublon</a:t>
            </a:r>
          </a:p>
          <a:p>
            <a:pPr>
              <a:spcBef>
                <a:spcPts val="400"/>
              </a:spcBef>
              <a:defRPr sz="1200">
                <a:solidFill>
                  <a:srgbClr val="F5F5F7"/>
                </a:solidFill>
              </a:defRPr>
            </a:pPr>
            <a:r>
              <a:t>Un réseau lent ou un délai d'attente pousse l'utilisateur à retenter immédiatement le transfert, risquant un double débit évitable.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6583680" cy="1280160"/>
          </a:xfrm>
          <a:prstGeom prst="roundRect">
            <a:avLst/>
          </a:prstGeom>
          <a:solidFill>
            <a:srgbClr val="1E1E1E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600" b="1">
                <a:solidFill>
                  <a:srgbClr val="FF6600"/>
                </a:solidFill>
              </a:defRPr>
            </a:pPr>
            <a:r>
              <a:t>2. La Friction Support</a:t>
            </a:r>
          </a:p>
          <a:p>
            <a:pPr>
              <a:spcBef>
                <a:spcPts val="400"/>
              </a:spcBef>
              <a:defRPr sz="1200">
                <a:solidFill>
                  <a:srgbClr val="F5F5F7"/>
                </a:solidFill>
              </a:defRPr>
            </a:pPr>
            <a:r>
              <a:t>Le client contacte le service client en détresse, sans référence, sans chronologie et sans les détails exacts de l'écran d'erreur.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6583680" cy="1280160"/>
          </a:xfrm>
          <a:prstGeom prst="roundRect">
            <a:avLst/>
          </a:prstGeom>
          <a:solidFill>
            <a:srgbClr val="1E1E1E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600" b="1">
                <a:solidFill>
                  <a:srgbClr val="FF6600"/>
                </a:solidFill>
              </a:defRPr>
            </a:pPr>
            <a:r>
              <a:t>3. L'Impact sur la Confiance</a:t>
            </a:r>
          </a:p>
          <a:p>
            <a:pPr>
              <a:spcBef>
                <a:spcPts val="400"/>
              </a:spcBef>
              <a:defRPr sz="1200">
                <a:solidFill>
                  <a:srgbClr val="F5F5F7"/>
                </a:solidFill>
              </a:defRPr>
            </a:pPr>
            <a:r>
              <a:t>L'incertitude sur les opérations financières fragilise la perception de fiabilité de l'application mobile en temps réel.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645920"/>
            <a:ext cx="3749039" cy="4389120"/>
          </a:xfrm>
          <a:prstGeom prst="roundRect">
            <a:avLst/>
          </a:prstGeom>
          <a:solidFill>
            <a:srgbClr val="1C1C1E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defRPr sz="1400" b="1">
                <a:solidFill>
                  <a:srgbClr val="FF6600"/>
                </a:solidFill>
              </a:defRPr>
            </a:pPr>
            <a:r>
              <a:t>L'OPPORTUNITÉ MAX IT</a:t>
            </a:r>
          </a:p>
          <a:p>
            <a:pPr>
              <a:spcBef>
                <a:spcPts val="1200"/>
              </a:spcBef>
              <a:defRPr sz="1800" b="1">
                <a:solidFill>
                  <a:srgbClr val="FFFFFF"/>
                </a:solidFill>
              </a:defRPr>
            </a:pPr>
            <a:r>
              <a:t>Transformer un moment d'anxiété en un parcours de prise en charge structuré, pédagogique et autonome.</a:t>
            </a:r>
          </a:p>
          <a:p>
            <a:pPr>
              <a:spcBef>
                <a:spcPts val="1600"/>
              </a:spcBef>
              <a:defRPr sz="1300">
                <a:solidFill>
                  <a:srgbClr val="F5F5F7"/>
                </a:solidFill>
              </a:defRPr>
            </a:pPr>
            <a:r>
              <a:t>• Éviter les tentatives répétées inutiles</a:t>
            </a:r>
            <a:br/>
            <a:r>
              <a:t>• Éduquer sur la vérification de l'historique</a:t>
            </a:r>
            <a:br/>
            <a:r>
              <a:t>• Pré-qualifier la demande pour l'assistance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7724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6600"/>
                </a:solidFill>
              </a:defRPr>
            </a:pPr>
            <a:r>
              <a:t>MAX IT WEEK • ORANGE DIGITAL CENTER SÉNÉGAL</a:t>
            </a:r>
          </a:p>
          <a:p>
            <a:pPr>
              <a:spcBef>
                <a:spcPts val="400"/>
              </a:spcBef>
              <a:defRPr sz="2800" b="1">
                <a:solidFill>
                  <a:srgbClr val="FFFFFF"/>
                </a:solidFill>
              </a:defRPr>
            </a:pPr>
            <a:r>
              <a:t>JOTTALE : Le Parcours Guidé d'Auto-Assistance</a:t>
            </a:r>
          </a:p>
        </p:txBody>
      </p:sp>
      <p:pic>
        <p:nvPicPr>
          <p:cNvPr id="3" name="Picture 2" descr="input_fil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65760"/>
            <a:ext cx="685800" cy="685800"/>
          </a:xfrm>
          <a:prstGeom prst="rect">
            <a:avLst/>
          </a:prstGeom>
        </p:spPr>
      </p:pic>
      <p:pic>
        <p:nvPicPr>
          <p:cNvPr id="4" name="Picture 3" descr="input_fil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65760"/>
            <a:ext cx="777240" cy="685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645920"/>
            <a:ext cx="2286000" cy="4572000"/>
          </a:xfrm>
          <a:prstGeom prst="roundRect">
            <a:avLst/>
          </a:prstGeom>
          <a:solidFill>
            <a:srgbClr val="1E1E1E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2400" b="1">
                <a:solidFill>
                  <a:srgbClr val="FF6600"/>
                </a:solidFill>
              </a:defRPr>
            </a:pPr>
            <a:r>
              <a:t>01</a:t>
            </a:r>
          </a:p>
          <a:p>
            <a:pPr>
              <a:spcBef>
                <a:spcPts val="800"/>
              </a:spcBef>
              <a:defRPr sz="1500" b="1">
                <a:solidFill>
                  <a:srgbClr val="FFFFFF"/>
                </a:solidFill>
              </a:defRPr>
            </a:pPr>
            <a:r>
              <a:t>Étape 1 : Qualification</a:t>
            </a:r>
          </a:p>
          <a:p>
            <a:pPr>
              <a:spcBef>
                <a:spcPts val="1000"/>
              </a:spcBef>
              <a:defRPr sz="1200">
                <a:solidFill>
                  <a:srgbClr val="A0A0A0"/>
                </a:solidFill>
              </a:defRPr>
            </a:pPr>
            <a:r>
              <a:t>Sélection de l'incident (Transfert, Crédit, Pass) &amp; saisie guidée sans données sensibles.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645920"/>
            <a:ext cx="2286000" cy="4572000"/>
          </a:xfrm>
          <a:prstGeom prst="roundRect">
            <a:avLst/>
          </a:prstGeom>
          <a:solidFill>
            <a:srgbClr val="1E1E1E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2400" b="1">
                <a:solidFill>
                  <a:srgbClr val="FF6600"/>
                </a:solidFill>
              </a:defRPr>
            </a:pPr>
            <a:r>
              <a:t>02</a:t>
            </a:r>
          </a:p>
          <a:p>
            <a:pPr>
              <a:spcBef>
                <a:spcPts val="800"/>
              </a:spcBef>
              <a:defRPr sz="1500" b="1">
                <a:solidFill>
                  <a:srgbClr val="FFFFFF"/>
                </a:solidFill>
              </a:defRPr>
            </a:pPr>
            <a:r>
              <a:t>Étape 2 : Garde-Fou</a:t>
            </a:r>
          </a:p>
          <a:p>
            <a:pPr>
              <a:spcBef>
                <a:spcPts val="1000"/>
              </a:spcBef>
              <a:defRPr sz="1200">
                <a:solidFill>
                  <a:srgbClr val="A0A0A0"/>
                </a:solidFill>
              </a:defRPr>
            </a:pPr>
            <a:r>
              <a:t>Conseil adapté immédiat : invitation à vérifier l'historique avant toute retentative.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1645920"/>
            <a:ext cx="2286000" cy="4572000"/>
          </a:xfrm>
          <a:prstGeom prst="roundRect">
            <a:avLst/>
          </a:prstGeom>
          <a:solidFill>
            <a:srgbClr val="1E1E1E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2400" b="1">
                <a:solidFill>
                  <a:srgbClr val="FF6600"/>
                </a:solidFill>
              </a:defRPr>
            </a:pPr>
            <a:r>
              <a:t>03</a:t>
            </a:r>
          </a:p>
          <a:p>
            <a:pPr>
              <a:spcBef>
                <a:spcPts val="800"/>
              </a:spcBef>
              <a:defRPr sz="1500" b="1">
                <a:solidFill>
                  <a:srgbClr val="FFFFFF"/>
                </a:solidFill>
              </a:defRPr>
            </a:pPr>
            <a:r>
              <a:t>Étape 3 : Fiche Dossier</a:t>
            </a:r>
          </a:p>
          <a:p>
            <a:pPr>
              <a:spcBef>
                <a:spcPts val="1000"/>
              </a:spcBef>
              <a:defRPr sz="1200">
                <a:solidFill>
                  <a:srgbClr val="A0A0A0"/>
                </a:solidFill>
              </a:defRPr>
            </a:pPr>
            <a:r>
              <a:t>Génération d'un dossier structuré avec référence et chronologie partageable au support.</a:t>
            </a:r>
          </a:p>
        </p:txBody>
      </p:sp>
      <p:pic>
        <p:nvPicPr>
          <p:cNvPr id="8" name="Picture 7" descr="input_file_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1645920"/>
            <a:ext cx="3239097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7724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6600"/>
                </a:solidFill>
              </a:defRPr>
            </a:pPr>
            <a:r>
              <a:t>MAX IT WEEK • ORANGE DIGITAL CENTER SÉNÉGAL</a:t>
            </a:r>
          </a:p>
          <a:p>
            <a:pPr>
              <a:spcBef>
                <a:spcPts val="400"/>
              </a:spcBef>
              <a:defRPr sz="2800" b="1">
                <a:solidFill>
                  <a:srgbClr val="FFFFFF"/>
                </a:solidFill>
              </a:defRPr>
            </a:pPr>
            <a:r>
              <a:t>Positionnement Distinctif &amp; Indicateurs du Pilote</a:t>
            </a:r>
          </a:p>
        </p:txBody>
      </p:sp>
      <p:pic>
        <p:nvPicPr>
          <p:cNvPr id="3" name="Picture 2" descr="input_fil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65760"/>
            <a:ext cx="685800" cy="685800"/>
          </a:xfrm>
          <a:prstGeom prst="rect">
            <a:avLst/>
          </a:prstGeom>
        </p:spPr>
      </p:pic>
      <p:pic>
        <p:nvPicPr>
          <p:cNvPr id="4" name="Picture 3" descr="input_fil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65760"/>
            <a:ext cx="777240" cy="685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645920"/>
            <a:ext cx="5486400" cy="4480560"/>
          </a:xfrm>
          <a:prstGeom prst="roundRect">
            <a:avLst/>
          </a:prstGeom>
          <a:solidFill>
            <a:srgbClr val="1E1E1E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300" b="1">
                <a:solidFill>
                  <a:srgbClr val="FF6600"/>
                </a:solidFill>
              </a:defRPr>
            </a:pPr>
            <a:r>
              <a:t>POURQUOI JOTTALE DÉPASSE UNE FAQ CLASSIQUE ?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FAQ / Chatbot standard :</a:t>
            </a:r>
          </a:p>
          <a:p>
            <a:pPr>
              <a:defRPr sz="1100">
                <a:solidFill>
                  <a:srgbClr val="F5F5F7"/>
                </a:solidFill>
              </a:defRPr>
            </a:pPr>
            <a:r>
              <a:t>Propose du texte générique ou renvoie vers un conseiller sans structuration préalable de l'incident.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Approche JOTTALE :</a:t>
            </a:r>
          </a:p>
          <a:p>
            <a:pPr>
              <a:defRPr sz="1100">
                <a:solidFill>
                  <a:srgbClr val="F5F5F7"/>
                </a:solidFill>
              </a:defRPr>
            </a:pPr>
            <a:r>
              <a:t>Accompagnement étape par étape, garde-fou anti-doublon contextuel, et création d'un livrable (dossier structuré).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Complémentarité :</a:t>
            </a:r>
          </a:p>
          <a:p>
            <a:pPr>
              <a:defRPr sz="1100">
                <a:solidFill>
                  <a:srgbClr val="F5F5F7"/>
                </a:solidFill>
              </a:defRPr>
            </a:pPr>
            <a:r>
              <a:t>Ne remplace pas le support Orange mais pré-qualifie la demande du client pour accélérer la résolution.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645920"/>
            <a:ext cx="4937760" cy="4480560"/>
          </a:xfrm>
          <a:prstGeom prst="roundRect">
            <a:avLst/>
          </a:prstGeom>
          <a:solidFill>
            <a:srgbClr val="1E1E1E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defRPr sz="1300" b="1">
                <a:solidFill>
                  <a:srgbClr val="FF6600"/>
                </a:solidFill>
              </a:defRPr>
            </a:pPr>
            <a:r>
              <a:t>INDICATEURS À MESURER LORS DU PILOTE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</a:defRPr>
            </a:pPr>
            <a:r>
              <a:t>• Complétude du Dossier</a:t>
            </a:r>
          </a:p>
          <a:p>
            <a:pPr>
              <a:defRPr sz="1100">
                <a:solidFill>
                  <a:srgbClr val="F5F5F7"/>
                </a:solidFill>
              </a:defRPr>
            </a:pPr>
            <a:r>
              <a:t>Pourcentage d'informations exploitables (référence, heure, capture) transmises au support.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</a:defRPr>
            </a:pPr>
            <a:r>
              <a:t>• Réduction des Doublons</a:t>
            </a:r>
          </a:p>
          <a:p>
            <a:pPr>
              <a:defRPr sz="1100">
                <a:solidFill>
                  <a:srgbClr val="F5F5F7"/>
                </a:solidFill>
              </a:defRPr>
            </a:pPr>
            <a:r>
              <a:t>Baisse mesurée des secondes tentatives immédiates après un message d'incertitude.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</a:defRPr>
            </a:pPr>
            <a:r>
              <a:t>• Temps de Traitement Support</a:t>
            </a:r>
          </a:p>
          <a:p>
            <a:pPr>
              <a:defRPr sz="1100">
                <a:solidFill>
                  <a:srgbClr val="F5F5F7"/>
                </a:solidFill>
              </a:defRPr>
            </a:pPr>
            <a:r>
              <a:t>Gain de temps pour l'agent de niveau 1 grâce au résumé standardisé JOTTALE.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</a:defRPr>
            </a:pPr>
            <a:r>
              <a:t>• Satisfaction Client (CSAT)</a:t>
            </a:r>
          </a:p>
          <a:p>
            <a:pPr>
              <a:defRPr sz="1100">
                <a:solidFill>
                  <a:srgbClr val="F5F5F7"/>
                </a:solidFill>
              </a:defRPr>
            </a:pPr>
            <a:r>
              <a:t>Clarté ressentie de la consignes pendant l'incertitude.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7724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6600"/>
                </a:solidFill>
              </a:defRPr>
            </a:pPr>
            <a:r>
              <a:t>MAX IT WEEK • ORANGE DIGITAL CENTER SÉNÉGAL</a:t>
            </a:r>
          </a:p>
          <a:p>
            <a:pPr>
              <a:spcBef>
                <a:spcPts val="400"/>
              </a:spcBef>
              <a:defRPr sz="2800" b="1">
                <a:solidFill>
                  <a:srgbClr val="FFFFFF"/>
                </a:solidFill>
              </a:defRPr>
            </a:pPr>
            <a:r>
              <a:t>Feuille de Route &amp; Appel à l'Action</a:t>
            </a:r>
          </a:p>
        </p:txBody>
      </p:sp>
      <p:pic>
        <p:nvPicPr>
          <p:cNvPr id="3" name="Picture 2" descr="input_fil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365760"/>
            <a:ext cx="685800" cy="685800"/>
          </a:xfrm>
          <a:prstGeom prst="rect">
            <a:avLst/>
          </a:prstGeom>
        </p:spPr>
      </p:pic>
      <p:pic>
        <p:nvPicPr>
          <p:cNvPr id="4" name="Picture 3" descr="input_fil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65760"/>
            <a:ext cx="777240" cy="685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645920"/>
            <a:ext cx="3291840" cy="2377440"/>
          </a:xfrm>
          <a:prstGeom prst="roundRect">
            <a:avLst/>
          </a:prstGeom>
          <a:solidFill>
            <a:srgbClr val="1E1E1E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100" b="1">
                <a:solidFill>
                  <a:srgbClr val="FF6600"/>
                </a:solidFill>
              </a:defRPr>
            </a:pPr>
            <a:r>
              <a:t>PHASE 1 (AUJOURD'HUI)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Prototype Validé</a:t>
            </a:r>
          </a:p>
          <a:p>
            <a:pPr>
              <a:spcBef>
                <a:spcPts val="800"/>
              </a:spcBef>
              <a:defRPr sz="1100">
                <a:solidFill>
                  <a:srgbClr val="F5F5F7"/>
                </a:solidFill>
              </a:defRPr>
            </a:pPr>
            <a:r>
              <a:t>Maquette interactive fonctionnelle, parcours d'auto-diagnostic et démonstration jury.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291840" cy="2377440"/>
          </a:xfrm>
          <a:prstGeom prst="roundRect">
            <a:avLst/>
          </a:prstGeom>
          <a:solidFill>
            <a:srgbClr val="1E1E1E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100" b="1">
                <a:solidFill>
                  <a:srgbClr val="FF6600"/>
                </a:solidFill>
              </a:defRPr>
            </a:pPr>
            <a:r>
              <a:t>PHASE 2 (PROCHAINE ÉTAPE)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Pilote Utilisateur</a:t>
            </a:r>
          </a:p>
          <a:p>
            <a:pPr>
              <a:spcBef>
                <a:spcPts val="800"/>
              </a:spcBef>
              <a:defRPr sz="1100">
                <a:solidFill>
                  <a:srgbClr val="F5F5F7"/>
                </a:solidFill>
              </a:defRPr>
            </a:pPr>
            <a:r>
              <a:t>Test auprès d'un panel restreint de clients Max It pour mesurer la clarté et le taux de complétude.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291840" cy="2377440"/>
          </a:xfrm>
          <a:prstGeom prst="roundRect">
            <a:avLst/>
          </a:prstGeom>
          <a:solidFill>
            <a:srgbClr val="1E1E1E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100" b="1">
                <a:solidFill>
                  <a:srgbClr val="FF6600"/>
                </a:solidFill>
              </a:defRPr>
            </a:pPr>
            <a:r>
              <a:t>PHASE 3 (VISION)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Intégration API Orange</a:t>
            </a:r>
          </a:p>
          <a:p>
            <a:pPr>
              <a:spcBef>
                <a:spcPts val="800"/>
              </a:spcBef>
              <a:defRPr sz="1100">
                <a:solidFill>
                  <a:srgbClr val="F5F5F7"/>
                </a:solidFill>
              </a:defRPr>
            </a:pPr>
            <a:r>
              <a:t>Étude d'intégration officielle (sous réserve d'accord) pour l'interrogation automatique des statuts d'opération.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97680"/>
            <a:ext cx="10698480" cy="1920240"/>
          </a:xfrm>
          <a:prstGeom prst="roundRect">
            <a:avLst/>
          </a:prstGeom>
          <a:solidFill>
            <a:srgbClr val="1C1C1E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28600" rIns="365760" rtlCol="0" anchor="ctr"/>
          <a:lstStyle/>
          <a:p>
            <a:pPr algn="ctr">
              <a:defRPr sz="1200" b="1">
                <a:solidFill>
                  <a:srgbClr val="FF6600"/>
                </a:solidFill>
              </a:defRPr>
            </a:pPr>
            <a:r>
              <a:t>NOTRE DEMANDE AU JURY MAX IT WEEK</a:t>
            </a:r>
          </a:p>
          <a:p>
            <a:pPr>
              <a:spcBef>
                <a:spcPts val="600"/>
              </a:spcBef>
              <a:defRPr sz="1800" b="1">
                <a:solidFill>
                  <a:srgbClr val="FFFFFF"/>
                </a:solidFill>
              </a:defRPr>
            </a:pPr>
            <a:r>
              <a:t>L'opportunité de co-construire un pilote expérimental avec les équipes Customer Experience et Orange Money de Sonatel.</a:t>
            </a:r>
          </a:p>
          <a:p>
            <a:pPr>
              <a:spcBef>
                <a:spcPts val="800"/>
              </a:spcBef>
              <a:defRPr sz="1400" i="1">
                <a:solidFill>
                  <a:srgbClr val="FF6600"/>
                </a:solidFill>
              </a:defRPr>
            </a:pPr>
            <a:r>
              <a:t>« Transformons l'incertitude client en sérénité numérique dès aujourd'hui. 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515</Words>
  <Application>Microsoft Office PowerPoint</Application>
  <PresentationFormat>Grand écran</PresentationFormat>
  <Paragraphs>59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Admin</cp:lastModifiedBy>
  <cp:revision>2</cp:revision>
  <dcterms:created xsi:type="dcterms:W3CDTF">2013-01-27T09:14:16Z</dcterms:created>
  <dcterms:modified xsi:type="dcterms:W3CDTF">2026-10-22T16:55:25Z</dcterms:modified>
  <cp:category/>
</cp:coreProperties>
</file>